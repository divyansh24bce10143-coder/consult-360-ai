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1.png"/><Relationship Id="rId14" Type="http://schemas.openxmlformats.org/officeDocument/2006/relationships/image" Target="../media/image-8-12.svg"/><Relationship Id="rId15" Type="http://schemas.openxmlformats.org/officeDocument/2006/relationships/image" Target="../media/image-8-11.png"/><Relationship Id="rId16" Type="http://schemas.openxmlformats.org/officeDocument/2006/relationships/image" Target="../media/image-8-12.svg"/><Relationship Id="rId17" Type="http://schemas.openxmlformats.org/officeDocument/2006/relationships/image" Target="../media/image-8-11.png"/><Relationship Id="rId18" Type="http://schemas.openxmlformats.org/officeDocument/2006/relationships/image" Target="../media/image-8-12.svg"/><Relationship Id="rId19" Type="http://schemas.openxmlformats.org/officeDocument/2006/relationships/image" Target="../media/image-8-9.png"/><Relationship Id="rId20" Type="http://schemas.openxmlformats.org/officeDocument/2006/relationships/image" Target="../media/image-8-1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8.png"/><Relationship Id="rId11" Type="http://schemas.openxmlformats.org/officeDocument/2006/relationships/image" Target="../media/image-9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56272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Consult360 AI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44854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Pre-Consultation Clinical Copilot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3992066"/>
            <a:ext cx="168816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7740" y="4051895"/>
            <a:ext cx="205844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HEALTH-A-THON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148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47119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Doctors spend 5–10 minutes per consultation searching through fragmented patient data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890639"/>
            <a:ext cx="3465525" cy="692150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897510" y="3090069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EMR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63035" y="2890639"/>
            <a:ext cx="3465525" cy="692150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3090069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Lab Reports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27985" y="2890639"/>
            <a:ext cx="3465624" cy="692150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9" name="Text 7"/>
          <p:cNvSpPr/>
          <p:nvPr/>
        </p:nvSpPr>
        <p:spPr>
          <a:xfrm>
            <a:off x="8227410" y="3090069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8086" y="3782219"/>
            <a:ext cx="5298049" cy="692150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897510" y="3981648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PDFs &amp; Scans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5560" y="3782219"/>
            <a:ext cx="5298049" cy="692150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6394985" y="3981648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Referral Letters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8086" y="4698702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4989314"/>
            <a:ext cx="249330" cy="19943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46266" y="4947940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Result: Information overload, missed investigations, fragmented care.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2995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This Matters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515592"/>
            <a:ext cx="3465525" cy="182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7404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F46E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Doctors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3153370"/>
            <a:ext cx="29142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Cognitive overload, reduced consultation quality, administrative burden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515592"/>
            <a:ext cx="3465525" cy="1820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27404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0B98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Hospitals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9457" y="3153370"/>
            <a:ext cx="29142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Inefficient workflows, longer appointment times, rising operational costs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985" y="2515592"/>
            <a:ext cx="3465624" cy="1820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407" y="2740422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3F5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Patients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4407" y="3153370"/>
            <a:ext cx="29143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Rushed consultations, missed clinical insights, poor continuity of care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97223" y="4784427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minute spent searching is a minute not spent caring.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98086" y="4560094"/>
            <a:ext cx="25399" cy="767854"/>
          </a:xfrm>
          <a:prstGeom prst="roundRect">
            <a:avLst>
              <a:gd name="adj" fmla="val 50001"/>
            </a:avLst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3144" y="1141115"/>
            <a:ext cx="684671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Solution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4653144" y="1927225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Automatically prepare doctors before every consultation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3144" y="2425898"/>
            <a:ext cx="6846716" cy="226387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and understands all patient reports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Extracts clinical entities and medical history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clinical changes and trends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Builds intelligent patient timeline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actionable consultation brief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Highlights pending investigations and risks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653144" y="4914106"/>
            <a:ext cx="6846716" cy="777776"/>
          </a:xfrm>
          <a:prstGeom prst="roundRect">
            <a:avLst>
              <a:gd name="adj" fmla="val 3847"/>
            </a:avLst>
          </a:prstGeom>
          <a:solidFill>
            <a:srgbClr val="7906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5204718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1324" y="5143401"/>
            <a:ext cx="660869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One-click preparation. Complete clinical context. Ready to consult.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941586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fragmented reports to actionable intelligence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287" y="1117302"/>
            <a:ext cx="9631122" cy="5262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0308" y="3592252"/>
            <a:ext cx="2231608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Ingestion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85496" y="3558009"/>
            <a:ext cx="2231607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Intelligence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32674" y="3569142"/>
            <a:ext cx="2231607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Provider Delivery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3617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Capabilities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321818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365" y="2390378"/>
            <a:ext cx="46247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OCR &amp; PDF Understanding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365" y="2803327"/>
            <a:ext cx="46247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text from any document format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321818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42" y="2390378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Medical Entity Extraction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68742" y="2803327"/>
            <a:ext cx="462486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Diagnoses, medications, allergies, lab values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521472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365" y="3590032"/>
            <a:ext cx="46247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Timeline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46365" y="4002980"/>
            <a:ext cx="46247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Chronological patient history with key events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463" y="3521472"/>
            <a:ext cx="398949" cy="398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8742" y="3590032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Change Detection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868742" y="4002980"/>
            <a:ext cx="462486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Spot trends, improvements, deteriorations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721126"/>
            <a:ext cx="398949" cy="3989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46365" y="4789686"/>
            <a:ext cx="46247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Detection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346365" y="5202634"/>
            <a:ext cx="46247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 critical findings and contraindications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0463" y="4721126"/>
            <a:ext cx="398949" cy="3989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68742" y="4789686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Explainable AI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6868742" y="5202634"/>
            <a:ext cx="462486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reasoning behind every recommendation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31155"/>
            <a:ext cx="62236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Dashboard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98086" y="1601490"/>
            <a:ext cx="6833223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Intuitive interface for instant patient context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8086" y="2056011"/>
            <a:ext cx="6223638" cy="3970734"/>
          </a:xfrm>
          <a:prstGeom prst="roundRect">
            <a:avLst>
              <a:gd name="adj" fmla="val 678"/>
            </a:avLst>
          </a:prstGeom>
          <a:solidFill>
            <a:srgbClr val="444752"/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2056011"/>
            <a:ext cx="6223638" cy="992684"/>
          </a:xfrm>
          <a:custGeom>
            <a:avLst/>
            <a:gdLst/>
            <a:ahLst/>
            <a:cxnLst/>
            <a:rect l="l" t="t" r="r" b="b"/>
            <a:pathLst>
              <a:path w="6223638" h="992684">
                <a:moveTo>
                  <a:pt x="22441" y="0"/>
                </a:moveTo>
                <a:lnTo>
                  <a:pt x="6201197" y="0"/>
                </a:lnTo>
                <a:arcTo hR="22442" wR="22441" stAng="16200000" swAng="5400000"/>
                <a:lnTo>
                  <a:pt x="6223638" y="992684"/>
                </a:lnTo>
                <a:lnTo>
                  <a:pt x="0" y="992684"/>
                </a:lnTo>
                <a:lnTo>
                  <a:pt x="0" y="22442"/>
                </a:lnTo>
                <a:arcTo hR="22442" wR="22441" stAng="10800000" swAng="5400000"/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877568" y="2235498"/>
            <a:ext cx="586467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Overview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568" y="2596455"/>
            <a:ext cx="586467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chief complaint, allergies at a glance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8086" y="3048695"/>
            <a:ext cx="6223638" cy="992684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0" name="Shape 7"/>
          <p:cNvSpPr/>
          <p:nvPr/>
        </p:nvSpPr>
        <p:spPr>
          <a:xfrm>
            <a:off x="698086" y="3048695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1" name="Text 8"/>
          <p:cNvSpPr/>
          <p:nvPr/>
        </p:nvSpPr>
        <p:spPr>
          <a:xfrm>
            <a:off x="877568" y="3228181"/>
            <a:ext cx="586467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 Upload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77568" y="3589139"/>
            <a:ext cx="586467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Drag-and-drop any document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8086" y="4041378"/>
            <a:ext cx="6223638" cy="992684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4" name="Shape 11"/>
          <p:cNvSpPr/>
          <p:nvPr/>
        </p:nvSpPr>
        <p:spPr>
          <a:xfrm>
            <a:off x="698086" y="4041378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5" name="Text 12"/>
          <p:cNvSpPr/>
          <p:nvPr/>
        </p:nvSpPr>
        <p:spPr>
          <a:xfrm>
            <a:off x="877568" y="4220865"/>
            <a:ext cx="586467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Cards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77568" y="4581823"/>
            <a:ext cx="586467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Highlighted alerts and pending investigations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8086" y="5034062"/>
            <a:ext cx="6223638" cy="992684"/>
          </a:xfrm>
          <a:custGeom>
            <a:avLst/>
            <a:gdLst/>
            <a:ahLst/>
            <a:cxnLst/>
            <a:rect l="l" t="t" r="r" b="b"/>
            <a:pathLst>
              <a:path w="6223638" h="992684">
                <a:moveTo>
                  <a:pt x="0" y="0"/>
                </a:moveTo>
                <a:lnTo>
                  <a:pt x="6223638" y="0"/>
                </a:lnTo>
                <a:lnTo>
                  <a:pt x="6223638" y="970242"/>
                </a:lnTo>
                <a:arcTo hR="22442" wR="22441" stAng="0" swAng="5400000"/>
                <a:lnTo>
                  <a:pt x="22441" y="992684"/>
                </a:lnTo>
                <a:arcTo hR="22442" wR="22441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18" name="Shape 15"/>
          <p:cNvSpPr/>
          <p:nvPr/>
        </p:nvSpPr>
        <p:spPr>
          <a:xfrm>
            <a:off x="698086" y="5034062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9" name="Text 16"/>
          <p:cNvSpPr/>
          <p:nvPr/>
        </p:nvSpPr>
        <p:spPr>
          <a:xfrm>
            <a:off x="877568" y="5213548"/>
            <a:ext cx="586467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77568" y="5574506"/>
            <a:ext cx="586467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Doctor-specific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96925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Consultation Brief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521619"/>
            <a:ext cx="11405108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Premium patient summary — everything a doctor needs, in seconds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38449"/>
            <a:ext cx="2537754" cy="12861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1169" y="2158107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675" y="2676723"/>
            <a:ext cx="2180575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Chief Complaint &amp; History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3431" y="2038449"/>
            <a:ext cx="2537754" cy="12861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36515" y="2158107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42021" y="2676723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Active Diagnoses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452217"/>
            <a:ext cx="2537754" cy="12861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71169" y="3571875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76675" y="4090491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Medication History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3431" y="3452217"/>
            <a:ext cx="2537754" cy="12861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36515" y="3571875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542021" y="4090491"/>
            <a:ext cx="2180575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Allergies &amp; Contraindications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865985"/>
            <a:ext cx="5203100" cy="1051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03842" y="4985643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76675" y="5504259"/>
            <a:ext cx="484592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Recent Lab Results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6860" y="2038449"/>
            <a:ext cx="2537754" cy="10515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69943" y="2158107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475449" y="2676723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Changes</a:t>
            </a:r>
            <a:endParaRPr lang="en-US" sz="14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2205" y="2038449"/>
            <a:ext cx="2537754" cy="10515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135289" y="2158107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9140795" y="2676723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Pending Investigations</a:t>
            </a:r>
            <a:endParaRPr lang="en-US" sz="14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96860" y="3217565"/>
            <a:ext cx="2537754" cy="10515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69943" y="3337223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6475449" y="3855839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Flags</a:t>
            </a:r>
            <a:endParaRPr lang="en-US" sz="14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62205" y="3217565"/>
            <a:ext cx="2537754" cy="105152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135289" y="3337223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9140795" y="3855839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Action Items</a:t>
            </a:r>
            <a:endParaRPr lang="en-US" sz="14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6860" y="4396680"/>
            <a:ext cx="5203100" cy="10515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802616" y="4516338"/>
            <a:ext cx="1914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1"/>
          <p:cNvSpPr/>
          <p:nvPr/>
        </p:nvSpPr>
        <p:spPr>
          <a:xfrm>
            <a:off x="6475449" y="5034955"/>
            <a:ext cx="484592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One-Line Summary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225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7744" y="2107009"/>
            <a:ext cx="2141385" cy="1501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03367" y="2132409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03367" y="2625130"/>
            <a:ext cx="186576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HTML, CSS, JavaScript — Clean, responsive UI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3060" y="2107009"/>
            <a:ext cx="2141385" cy="1501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8683" y="2132409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Engine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268683" y="2625130"/>
            <a:ext cx="186576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 API, PDF.js, OCR — Intelligent processing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8376" y="2107009"/>
            <a:ext cx="2141484" cy="15010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33999" y="2132409"/>
            <a:ext cx="186586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33999" y="2625130"/>
            <a:ext cx="186586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LocalStorage (demo), PostgreSQL (production)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744" y="3956248"/>
            <a:ext cx="3324043" cy="11818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03367" y="3981648"/>
            <a:ext cx="30484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4903367" y="4474369"/>
            <a:ext cx="30484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(future) — Scalable architecture</a:t>
            </a:r>
            <a:endParaRPr lang="en-US" sz="15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5718" y="3956248"/>
            <a:ext cx="3324142" cy="118189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451341" y="3981648"/>
            <a:ext cx="30485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8451341" y="4474369"/>
            <a:ext cx="304851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Vercel — Fast, reliable hosting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4653144" y="5337076"/>
            <a:ext cx="74563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for healthcare. Designed for scale.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Makes Us Different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1241" y="3249960"/>
            <a:ext cx="149519" cy="149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47877" y="3246934"/>
            <a:ext cx="2282867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Clinical Copilot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547877" y="3443387"/>
            <a:ext cx="228286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analysis, not just data storage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0456" y="3249960"/>
            <a:ext cx="149519" cy="149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17092" y="3246934"/>
            <a:ext cx="2282867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Explainable AI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9217092" y="3443387"/>
            <a:ext cx="228286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Doctors understand </a:t>
            </a:r>
            <a:pPr algn="l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just </a:t>
            </a:r>
            <a:pPr algn="l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1241" y="3665786"/>
            <a:ext cx="149519" cy="1495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47877" y="3662759"/>
            <a:ext cx="495208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Summarization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547877" y="3859212"/>
            <a:ext cx="495208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Seconds to prepare, not minutes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372195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698086" y="1980505"/>
            <a:ext cx="3055762" cy="1214636"/>
          </a:xfrm>
          <a:prstGeom prst="roundRect">
            <a:avLst>
              <a:gd name="adj" fmla="val 184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847605" y="2130028"/>
            <a:ext cx="2756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F46E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Doctors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7605" y="2417266"/>
            <a:ext cx="2756724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 5–10 minutes per consultation. Reduce cognitive load. Focus on patient care.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865962" y="1980505"/>
            <a:ext cx="3055762" cy="1214636"/>
          </a:xfrm>
          <a:prstGeom prst="roundRect">
            <a:avLst>
              <a:gd name="adj" fmla="val 1848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4015481" y="2130028"/>
            <a:ext cx="27567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Hospitals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15481" y="2417266"/>
            <a:ext cx="2756724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workflow efficiency, better appointment utilization, reduced admin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8086" y="3307259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847605" y="3456781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43F5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Patients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7605" y="3744020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consultations, improved continuity of care, fewer missed diagnoses.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8086" y="4271268"/>
            <a:ext cx="6223638" cy="121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Measurable outcomes. Real impact. Better healthcare.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2026-08-28T07:37:48Z</dcterms:created>
  <dcterms:modified xsi:type="dcterms:W3CDTF">2026-08-28T07:37:48Z</dcterms:modified>
</cp:coreProperties>
</file>